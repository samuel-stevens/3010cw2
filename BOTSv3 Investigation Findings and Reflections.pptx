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D3655A-23C4-4DFA-B62D-1754149FAD0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D02F49-E555-4262-8A58-8B9D729D7E64}">
      <dgm:prSet/>
      <dgm:spPr/>
      <dgm:t>
        <a:bodyPr/>
        <a:lstStyle/>
        <a:p>
          <a:r>
            <a:rPr lang="en-GB"/>
            <a:t>4 IAM Users within the dataset: Bstoll, Btun, splunk_access, and Mkraeus</a:t>
          </a:r>
          <a:endParaRPr lang="en-US"/>
        </a:p>
      </dgm:t>
    </dgm:pt>
    <dgm:pt modelId="{8B036DB3-F763-4887-88F3-F0A60C1398FD}" type="parTrans" cxnId="{FF326EE6-448E-46D9-93EB-88F4C12A8AB9}">
      <dgm:prSet/>
      <dgm:spPr/>
      <dgm:t>
        <a:bodyPr/>
        <a:lstStyle/>
        <a:p>
          <a:endParaRPr lang="en-US"/>
        </a:p>
      </dgm:t>
    </dgm:pt>
    <dgm:pt modelId="{0727C65E-12C5-475A-BCBA-6D017E9F3EFA}" type="sibTrans" cxnId="{FF326EE6-448E-46D9-93EB-88F4C12A8AB9}">
      <dgm:prSet/>
      <dgm:spPr/>
      <dgm:t>
        <a:bodyPr/>
        <a:lstStyle/>
        <a:p>
          <a:endParaRPr lang="en-US"/>
        </a:p>
      </dgm:t>
    </dgm:pt>
    <dgm:pt modelId="{B872D2C1-DD55-4C2A-BF9D-10856951E50F}">
      <dgm:prSet/>
      <dgm:spPr/>
      <dgm:t>
        <a:bodyPr/>
        <a:lstStyle/>
        <a:p>
          <a:r>
            <a:rPr lang="en-GB"/>
            <a:t>AWS API calls were made without Multi-Factor Authentication(MFA).</a:t>
          </a:r>
          <a:endParaRPr lang="en-US"/>
        </a:p>
      </dgm:t>
    </dgm:pt>
    <dgm:pt modelId="{F5ABECC1-1157-4954-AF2E-9BEEDF99F4A9}" type="parTrans" cxnId="{7C43E8AA-4A4A-4085-B62F-19D348F6F320}">
      <dgm:prSet/>
      <dgm:spPr/>
      <dgm:t>
        <a:bodyPr/>
        <a:lstStyle/>
        <a:p>
          <a:endParaRPr lang="en-US"/>
        </a:p>
      </dgm:t>
    </dgm:pt>
    <dgm:pt modelId="{BAD0D5F7-6631-4076-8D8C-F0465CD6ABF2}" type="sibTrans" cxnId="{7C43E8AA-4A4A-4085-B62F-19D348F6F320}">
      <dgm:prSet/>
      <dgm:spPr/>
      <dgm:t>
        <a:bodyPr/>
        <a:lstStyle/>
        <a:p>
          <a:endParaRPr lang="en-US"/>
        </a:p>
      </dgm:t>
    </dgm:pt>
    <dgm:pt modelId="{587046DE-9019-4ECE-998D-B1AC0F19E1A9}">
      <dgm:prSet/>
      <dgm:spPr/>
      <dgm:t>
        <a:bodyPr/>
        <a:lstStyle/>
        <a:p>
          <a:r>
            <a:rPr lang="en-GB"/>
            <a:t>An S3 Bucket called frothlywebcode was misconfigured and made public by user Bstoll.</a:t>
          </a:r>
          <a:endParaRPr lang="en-US"/>
        </a:p>
      </dgm:t>
    </dgm:pt>
    <dgm:pt modelId="{CB92468A-B3D4-48B8-AFB9-361FBD51DDA1}" type="parTrans" cxnId="{5DCD0E24-9E9D-4222-8C45-DF65FA8ADAB0}">
      <dgm:prSet/>
      <dgm:spPr/>
      <dgm:t>
        <a:bodyPr/>
        <a:lstStyle/>
        <a:p>
          <a:endParaRPr lang="en-US"/>
        </a:p>
      </dgm:t>
    </dgm:pt>
    <dgm:pt modelId="{070721E2-2ED5-4787-A681-3A4FA5FA5FA9}" type="sibTrans" cxnId="{5DCD0E24-9E9D-4222-8C45-DF65FA8ADAB0}">
      <dgm:prSet/>
      <dgm:spPr/>
      <dgm:t>
        <a:bodyPr/>
        <a:lstStyle/>
        <a:p>
          <a:endParaRPr lang="en-US"/>
        </a:p>
      </dgm:t>
    </dgm:pt>
    <dgm:pt modelId="{770ED0E8-80D1-479B-BB32-0572A3C64D85}">
      <dgm:prSet/>
      <dgm:spPr/>
      <dgm:t>
        <a:bodyPr/>
        <a:lstStyle/>
        <a:p>
          <a:r>
            <a:rPr lang="en-GB"/>
            <a:t>During its exposure, a .txt file was successfully uploaded to the bucket named “OPEN_BUCKET_PLEASE_FIX.txt”</a:t>
          </a:r>
          <a:endParaRPr lang="en-US"/>
        </a:p>
      </dgm:t>
    </dgm:pt>
    <dgm:pt modelId="{9729CE79-DC44-445C-AB8D-93D1BADC4DCB}" type="parTrans" cxnId="{F57B9279-3B67-4B7B-9414-15DD324A450D}">
      <dgm:prSet/>
      <dgm:spPr/>
      <dgm:t>
        <a:bodyPr/>
        <a:lstStyle/>
        <a:p>
          <a:endParaRPr lang="en-US"/>
        </a:p>
      </dgm:t>
    </dgm:pt>
    <dgm:pt modelId="{2D2B9D88-6465-44B4-A02C-B09D0AD3525E}" type="sibTrans" cxnId="{F57B9279-3B67-4B7B-9414-15DD324A450D}">
      <dgm:prSet/>
      <dgm:spPr/>
      <dgm:t>
        <a:bodyPr/>
        <a:lstStyle/>
        <a:p>
          <a:endParaRPr lang="en-US"/>
        </a:p>
      </dgm:t>
    </dgm:pt>
    <dgm:pt modelId="{2681C07A-7327-4C59-B860-95C6CBCE150F}" type="pres">
      <dgm:prSet presAssocID="{CCD3655A-23C4-4DFA-B62D-1754149FAD05}" presName="linear" presStyleCnt="0">
        <dgm:presLayoutVars>
          <dgm:animLvl val="lvl"/>
          <dgm:resizeHandles val="exact"/>
        </dgm:presLayoutVars>
      </dgm:prSet>
      <dgm:spPr/>
    </dgm:pt>
    <dgm:pt modelId="{6A8007E8-784C-4D8C-B448-0201CEB8A430}" type="pres">
      <dgm:prSet presAssocID="{DBD02F49-E555-4262-8A58-8B9D729D7E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BAC680-557E-4F2C-BD92-C22D5F5AB25C}" type="pres">
      <dgm:prSet presAssocID="{0727C65E-12C5-475A-BCBA-6D017E9F3EFA}" presName="spacer" presStyleCnt="0"/>
      <dgm:spPr/>
    </dgm:pt>
    <dgm:pt modelId="{A1304CCB-9445-4715-A583-543626390E03}" type="pres">
      <dgm:prSet presAssocID="{B872D2C1-DD55-4C2A-BF9D-10856951E5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D5E17C-231D-47E9-A56D-B2B37A6D56C8}" type="pres">
      <dgm:prSet presAssocID="{BAD0D5F7-6631-4076-8D8C-F0465CD6ABF2}" presName="spacer" presStyleCnt="0"/>
      <dgm:spPr/>
    </dgm:pt>
    <dgm:pt modelId="{AC2B0E41-9A56-441C-A9BC-63CED225CD7A}" type="pres">
      <dgm:prSet presAssocID="{587046DE-9019-4ECE-998D-B1AC0F19E1A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EA09B0-B44E-45E3-93D2-299CA729AC6B}" type="pres">
      <dgm:prSet presAssocID="{070721E2-2ED5-4787-A681-3A4FA5FA5FA9}" presName="spacer" presStyleCnt="0"/>
      <dgm:spPr/>
    </dgm:pt>
    <dgm:pt modelId="{167E023B-2739-4897-85FD-46FB1796F673}" type="pres">
      <dgm:prSet presAssocID="{770ED0E8-80D1-479B-BB32-0572A3C64D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10440D-0BFB-4DBA-B10F-A24521FAA13A}" type="presOf" srcId="{587046DE-9019-4ECE-998D-B1AC0F19E1A9}" destId="{AC2B0E41-9A56-441C-A9BC-63CED225CD7A}" srcOrd="0" destOrd="0" presId="urn:microsoft.com/office/officeart/2005/8/layout/vList2"/>
    <dgm:cxn modelId="{5DCD0E24-9E9D-4222-8C45-DF65FA8ADAB0}" srcId="{CCD3655A-23C4-4DFA-B62D-1754149FAD05}" destId="{587046DE-9019-4ECE-998D-B1AC0F19E1A9}" srcOrd="2" destOrd="0" parTransId="{CB92468A-B3D4-48B8-AFB9-361FBD51DDA1}" sibTransId="{070721E2-2ED5-4787-A681-3A4FA5FA5FA9}"/>
    <dgm:cxn modelId="{1DA7A953-8936-4DE2-86E6-C6744041AA64}" type="presOf" srcId="{B872D2C1-DD55-4C2A-BF9D-10856951E50F}" destId="{A1304CCB-9445-4715-A583-543626390E03}" srcOrd="0" destOrd="0" presId="urn:microsoft.com/office/officeart/2005/8/layout/vList2"/>
    <dgm:cxn modelId="{F57B9279-3B67-4B7B-9414-15DD324A450D}" srcId="{CCD3655A-23C4-4DFA-B62D-1754149FAD05}" destId="{770ED0E8-80D1-479B-BB32-0572A3C64D85}" srcOrd="3" destOrd="0" parTransId="{9729CE79-DC44-445C-AB8D-93D1BADC4DCB}" sibTransId="{2D2B9D88-6465-44B4-A02C-B09D0AD3525E}"/>
    <dgm:cxn modelId="{CE212897-E0FD-4BD4-9E55-C5E06D468E5A}" type="presOf" srcId="{CCD3655A-23C4-4DFA-B62D-1754149FAD05}" destId="{2681C07A-7327-4C59-B860-95C6CBCE150F}" srcOrd="0" destOrd="0" presId="urn:microsoft.com/office/officeart/2005/8/layout/vList2"/>
    <dgm:cxn modelId="{B9645BA6-97BC-42DB-A224-B6DB9FFF82F4}" type="presOf" srcId="{770ED0E8-80D1-479B-BB32-0572A3C64D85}" destId="{167E023B-2739-4897-85FD-46FB1796F673}" srcOrd="0" destOrd="0" presId="urn:microsoft.com/office/officeart/2005/8/layout/vList2"/>
    <dgm:cxn modelId="{7C43E8AA-4A4A-4085-B62F-19D348F6F320}" srcId="{CCD3655A-23C4-4DFA-B62D-1754149FAD05}" destId="{B872D2C1-DD55-4C2A-BF9D-10856951E50F}" srcOrd="1" destOrd="0" parTransId="{F5ABECC1-1157-4954-AF2E-9BEEDF99F4A9}" sibTransId="{BAD0D5F7-6631-4076-8D8C-F0465CD6ABF2}"/>
    <dgm:cxn modelId="{903A82CE-E910-4EDF-9C3A-B50AAD42BC18}" type="presOf" srcId="{DBD02F49-E555-4262-8A58-8B9D729D7E64}" destId="{6A8007E8-784C-4D8C-B448-0201CEB8A430}" srcOrd="0" destOrd="0" presId="urn:microsoft.com/office/officeart/2005/8/layout/vList2"/>
    <dgm:cxn modelId="{FF326EE6-448E-46D9-93EB-88F4C12A8AB9}" srcId="{CCD3655A-23C4-4DFA-B62D-1754149FAD05}" destId="{DBD02F49-E555-4262-8A58-8B9D729D7E64}" srcOrd="0" destOrd="0" parTransId="{8B036DB3-F763-4887-88F3-F0A60C1398FD}" sibTransId="{0727C65E-12C5-475A-BCBA-6D017E9F3EFA}"/>
    <dgm:cxn modelId="{C1CC681E-E8F5-4DE4-9E47-9CE6C1983D2B}" type="presParOf" srcId="{2681C07A-7327-4C59-B860-95C6CBCE150F}" destId="{6A8007E8-784C-4D8C-B448-0201CEB8A430}" srcOrd="0" destOrd="0" presId="urn:microsoft.com/office/officeart/2005/8/layout/vList2"/>
    <dgm:cxn modelId="{AA6AC80B-F66E-45C2-8D9A-119C54ED6FD6}" type="presParOf" srcId="{2681C07A-7327-4C59-B860-95C6CBCE150F}" destId="{90BAC680-557E-4F2C-BD92-C22D5F5AB25C}" srcOrd="1" destOrd="0" presId="urn:microsoft.com/office/officeart/2005/8/layout/vList2"/>
    <dgm:cxn modelId="{69307279-1221-48C7-86FE-74C4BDE9E6F3}" type="presParOf" srcId="{2681C07A-7327-4C59-B860-95C6CBCE150F}" destId="{A1304CCB-9445-4715-A583-543626390E03}" srcOrd="2" destOrd="0" presId="urn:microsoft.com/office/officeart/2005/8/layout/vList2"/>
    <dgm:cxn modelId="{30E0D4AB-9682-4BEB-8832-9EB0069BE97C}" type="presParOf" srcId="{2681C07A-7327-4C59-B860-95C6CBCE150F}" destId="{D9D5E17C-231D-47E9-A56D-B2B37A6D56C8}" srcOrd="3" destOrd="0" presId="urn:microsoft.com/office/officeart/2005/8/layout/vList2"/>
    <dgm:cxn modelId="{94297126-3650-4E59-BEC7-DF55253008B3}" type="presParOf" srcId="{2681C07A-7327-4C59-B860-95C6CBCE150F}" destId="{AC2B0E41-9A56-441C-A9BC-63CED225CD7A}" srcOrd="4" destOrd="0" presId="urn:microsoft.com/office/officeart/2005/8/layout/vList2"/>
    <dgm:cxn modelId="{AC7C2D28-EC60-4E85-850A-1B60702882FB}" type="presParOf" srcId="{2681C07A-7327-4C59-B860-95C6CBCE150F}" destId="{E4EA09B0-B44E-45E3-93D2-299CA729AC6B}" srcOrd="5" destOrd="0" presId="urn:microsoft.com/office/officeart/2005/8/layout/vList2"/>
    <dgm:cxn modelId="{88350E24-3C31-4001-B5F0-22ECD06B767A}" type="presParOf" srcId="{2681C07A-7327-4C59-B860-95C6CBCE150F}" destId="{167E023B-2739-4897-85FD-46FB1796F6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007E8-784C-4D8C-B448-0201CEB8A430}">
      <dsp:nvSpPr>
        <dsp:cNvPr id="0" name=""/>
        <dsp:cNvSpPr/>
      </dsp:nvSpPr>
      <dsp:spPr>
        <a:xfrm>
          <a:off x="0" y="30024"/>
          <a:ext cx="6879517" cy="14221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4 IAM Users within the dataset: Bstoll, Btun, splunk_access, and Mkraeus</a:t>
          </a:r>
          <a:endParaRPr lang="en-US" sz="2600" kern="1200"/>
        </a:p>
      </dsp:txBody>
      <dsp:txXfrm>
        <a:off x="69423" y="99447"/>
        <a:ext cx="6740671" cy="1283289"/>
      </dsp:txXfrm>
    </dsp:sp>
    <dsp:sp modelId="{A1304CCB-9445-4715-A583-543626390E03}">
      <dsp:nvSpPr>
        <dsp:cNvPr id="0" name=""/>
        <dsp:cNvSpPr/>
      </dsp:nvSpPr>
      <dsp:spPr>
        <a:xfrm>
          <a:off x="0" y="1527039"/>
          <a:ext cx="6879517" cy="1422135"/>
        </a:xfrm>
        <a:prstGeom prst="roundRect">
          <a:avLst/>
        </a:prstGeom>
        <a:solidFill>
          <a:schemeClr val="accent2">
            <a:hueOff val="-4527264"/>
            <a:satOff val="24101"/>
            <a:lumOff val="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AWS API calls were made without Multi-Factor Authentication(MFA).</a:t>
          </a:r>
          <a:endParaRPr lang="en-US" sz="2600" kern="1200"/>
        </a:p>
      </dsp:txBody>
      <dsp:txXfrm>
        <a:off x="69423" y="1596462"/>
        <a:ext cx="6740671" cy="1283289"/>
      </dsp:txXfrm>
    </dsp:sp>
    <dsp:sp modelId="{AC2B0E41-9A56-441C-A9BC-63CED225CD7A}">
      <dsp:nvSpPr>
        <dsp:cNvPr id="0" name=""/>
        <dsp:cNvSpPr/>
      </dsp:nvSpPr>
      <dsp:spPr>
        <a:xfrm>
          <a:off x="0" y="3024054"/>
          <a:ext cx="6879517" cy="1422135"/>
        </a:xfrm>
        <a:prstGeom prst="roundRect">
          <a:avLst/>
        </a:prstGeom>
        <a:solidFill>
          <a:schemeClr val="accent2">
            <a:hueOff val="-9054529"/>
            <a:satOff val="48203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An S3 Bucket called frothlywebcode was misconfigured and made public by user Bstoll.</a:t>
          </a:r>
          <a:endParaRPr lang="en-US" sz="2600" kern="1200"/>
        </a:p>
      </dsp:txBody>
      <dsp:txXfrm>
        <a:off x="69423" y="3093477"/>
        <a:ext cx="6740671" cy="1283289"/>
      </dsp:txXfrm>
    </dsp:sp>
    <dsp:sp modelId="{167E023B-2739-4897-85FD-46FB1796F673}">
      <dsp:nvSpPr>
        <dsp:cNvPr id="0" name=""/>
        <dsp:cNvSpPr/>
      </dsp:nvSpPr>
      <dsp:spPr>
        <a:xfrm>
          <a:off x="0" y="4521070"/>
          <a:ext cx="6879517" cy="1422135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During its exposure, a .txt file was successfully uploaded to the bucket named “OPEN_BUCKET_PLEASE_FIX.txt”</a:t>
          </a:r>
          <a:endParaRPr lang="en-US" sz="2600" kern="1200"/>
        </a:p>
      </dsp:txBody>
      <dsp:txXfrm>
        <a:off x="69423" y="4590493"/>
        <a:ext cx="6740671" cy="1283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63F32-422E-4537-A57E-749B4F4DDFCE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42C285-99DD-4D60-9100-91F5C0136E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35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42C285-99DD-4D60-9100-91F5C0136E7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36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9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0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3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8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3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1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4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4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0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8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CFC1B2-D399-4D97-B49E-D77054AE5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7"/>
            <a:ext cx="10495904" cy="13958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BOTSv3 Investigation Findings and Reflections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D315E-9FBE-2156-6152-6329792E4E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1800355"/>
            <a:ext cx="5398649" cy="1643320"/>
          </a:xfrm>
        </p:spPr>
        <p:txBody>
          <a:bodyPr>
            <a:normAutofit/>
          </a:bodyPr>
          <a:lstStyle/>
          <a:p>
            <a:r>
              <a:rPr lang="en-GB" dirty="0"/>
              <a:t>By Samuel Stevens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3D0D3-E068-069E-6A9E-4EB82C5D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070" r="2" b="45277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10990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35262D-642F-DBF4-BE59-92C0EB61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GB" dirty="0"/>
              <a:t>Key Findings from BOTSv3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7744E-3034-536E-90B5-3F1ADB0B8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542270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83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B5AF-558A-4C1F-C9D7-2A10AFAA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1" y="725951"/>
            <a:ext cx="9897398" cy="772109"/>
          </a:xfrm>
        </p:spPr>
        <p:txBody>
          <a:bodyPr>
            <a:normAutofit fontScale="90000"/>
          </a:bodyPr>
          <a:lstStyle/>
          <a:p>
            <a:r>
              <a:rPr lang="en-GB" dirty="0"/>
              <a:t>Explanation of Key SPL Queries: OS’s used by hosts</a:t>
            </a:r>
          </a:p>
        </p:txBody>
      </p:sp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8B2DCB-E053-0922-9474-DB12206D1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3711" y="2339975"/>
            <a:ext cx="6954525" cy="436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2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196D-4DF6-D21A-7FF4-B80D2E9C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Queries Continued: MFA Keyword 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5C377E-307E-D7C5-7B3A-F250F38FA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52" y="2894362"/>
            <a:ext cx="5760618" cy="3963637"/>
          </a:xfrm>
          <a:prstGeom prst="rect">
            <a:avLst/>
          </a:prstGeom>
        </p:spPr>
      </p:pic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3FF10E9-0128-5C1E-5601-DA06AE40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66" y="2894364"/>
            <a:ext cx="6439834" cy="396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7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19EBE-2451-6B31-D783-761427E9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Queries: Finding bucket misconfiguration</a:t>
            </a:r>
          </a:p>
        </p:txBody>
      </p:sp>
      <p:pic>
        <p:nvPicPr>
          <p:cNvPr id="5" name="Picture 4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B36FB1F3-445E-183A-F2B2-C951B7332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265" y="2168414"/>
            <a:ext cx="7691469" cy="463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5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7AC6-E3CD-0561-6BF5-3191D79E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 on SOC operations and incident response and lessons learned.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24610-FEC1-C01E-EFC1-5D46153D0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Lesson learned: The impact that comprehensive logging and security visibility can have on an investigation.</a:t>
            </a:r>
          </a:p>
          <a:p>
            <a:r>
              <a:rPr lang="en-GB" dirty="0"/>
              <a:t>Effective SIEM tool usage makes detecting and responding to suspicious or malicious behaviour significantly easier and quicker.</a:t>
            </a:r>
          </a:p>
        </p:txBody>
      </p:sp>
    </p:spTree>
    <p:extLst>
      <p:ext uri="{BB962C8B-B14F-4D97-AF65-F5344CB8AC3E}">
        <p14:creationId xmlns:p14="http://schemas.microsoft.com/office/powerpoint/2010/main" val="210948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1BB8-7ED4-A71B-9C79-5D482237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E801-AE1A-7441-3982-186F7582A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am more than happy to answer questions either in person or via email at: samuel.stevens-10@students.plymouth.ac.uk</a:t>
            </a:r>
          </a:p>
        </p:txBody>
      </p:sp>
    </p:spTree>
    <p:extLst>
      <p:ext uri="{BB962C8B-B14F-4D97-AF65-F5344CB8AC3E}">
        <p14:creationId xmlns:p14="http://schemas.microsoft.com/office/powerpoint/2010/main" val="306002050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181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Grandview</vt:lpstr>
      <vt:lpstr>Wingdings</vt:lpstr>
      <vt:lpstr>CosineVTI</vt:lpstr>
      <vt:lpstr>BOTSv3 Investigation Findings and Reflections</vt:lpstr>
      <vt:lpstr>Key Findings from BOTSv3</vt:lpstr>
      <vt:lpstr>Explanation of Key SPL Queries: OS’s used by hosts</vt:lpstr>
      <vt:lpstr>Key Queries Continued: MFA Keyword Search</vt:lpstr>
      <vt:lpstr>Key Queries: Finding bucket misconfiguration</vt:lpstr>
      <vt:lpstr>Reflection on SOC operations and incident response and lessons learned.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(s) Samuel Stevens 2</cp:lastModifiedBy>
  <cp:revision>2</cp:revision>
  <dcterms:created xsi:type="dcterms:W3CDTF">2026-01-02T16:33:55Z</dcterms:created>
  <dcterms:modified xsi:type="dcterms:W3CDTF">2026-01-02T20:27:56Z</dcterms:modified>
</cp:coreProperties>
</file>